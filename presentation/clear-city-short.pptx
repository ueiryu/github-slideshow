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[morning / afternoon]. I'm [your name], and I'm here to apply for Communications Director. In the next three minutes I'll do three things — show you a story I found in our city's data, tell you what I'd do about it, and let the work itself show you how I'd communicate for Clear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chart, two neighborhoods, five facts. The steeper the line, the bigger the gap.</a:t>
            </a:r>
          </a:p>
          <a:p/>
          <a:p>
            <a:r>
              <a:t>The headline: fifty-nine percent of Dunes residents are at elevated weight risk — versus twenty-three percent in Palm Haven. A thirty-six-point gap.</a:t>
            </a:r>
          </a:p>
          <a:p/>
          <a:p>
            <a:r>
              <a:t>Sixty-nine percent of Dunes households earn under twenty-five thousand a year. Forty-five percent of Palm Haven households earn over forty thousand. Incomes at opposite ends.</a:t>
            </a:r>
          </a:p>
          <a:p/>
          <a:p>
            <a:r>
              <a:t>The Dunes also has more children — about one in three residents is under eighteen — and is two-and-a-half times more likely to use Spanish at home.</a:t>
            </a:r>
          </a:p>
          <a:p/>
          <a:p>
            <a:r>
              <a:t>Same city. Same services on offer. Profoundly different starting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what does this mean for Clear City? Two strategies, not one.</a:t>
            </a:r>
          </a:p>
          <a:p/>
          <a:p>
            <a:r>
              <a:t>For The Dunes — Spanish first. Written in Spanish from day one, not translated at the end. Plain language — short sentences, everyday words. Health is the through-line. The schools, the faith communities, and community health workers carry the message. Print, text message, and in-person. Not email-first.</a:t>
            </a:r>
          </a:p>
          <a:p/>
          <a:p>
            <a:r>
              <a:t>For Palm Haven — digital-first works. Captioned video, screen-reader friendly, keyboard-accessible. Lead with civic engagement. Self-serve, transparent, data-rich.</a:t>
            </a:r>
          </a:p>
          <a:p/>
          <a:p>
            <a:r>
              <a:t>In my first ninety days I'd audit what we already publish, build the Spanish-language and accessibility workflow, and re-mix the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I'd be honored to do this work for Clear City.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if a panelist asks: 'Can you show just the BMI number on its own?' The dot plot is the simplest possible chart — two values, the distance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if a panelist asks: 'Can you break out each metric separately?' Trades the slope chart's at-a-glance view for clearer per-metric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if a panelist asks: 'Tell me more about the income story.' The asymmetry makes the case for different channels in each neighborhood.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91695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A6A6A6"/>
                </a:solidFill>
                <a:latin typeface="Calibri"/>
              </a:rPr>
              <a:t>CLEAR CITY · COMMUNICATIONS DIRECTOR · 3-MINUTE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18288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5400" b="1">
                <a:solidFill>
                  <a:srgbClr val="262626"/>
                </a:solidFill>
                <a:latin typeface="Calibri"/>
              </a:rPr>
              <a:t>Two Neighborhoods, </a:t>
            </a:r>
            <a:r>
              <a:rPr sz="5400" b="1">
                <a:solidFill>
                  <a:srgbClr val="8B6F47"/>
                </a:solidFill>
                <a:latin typeface="Calibri"/>
              </a:rPr>
              <a:t>Two </a:t>
            </a:r>
            <a:r>
              <a:rPr sz="5400" b="1">
                <a:solidFill>
                  <a:srgbClr val="2C7A7B"/>
                </a:solidFill>
                <a:latin typeface="Calibri"/>
              </a:rPr>
              <a:t>Communications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The Dunes · 1,200 residents    |    Palm Haven · 800 residents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Same city. Same services. Profoundly different starting 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CLARITY  ·  EQUITY  ·  ACCESS FOR EVERY RESIDENT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A6A6A6"/>
                </a:solidFill>
                <a:latin typeface="Calibri"/>
              </a:rPr>
              <a:t>WHAT THE DATA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>
                <a:solidFill>
                  <a:srgbClr val="262626"/>
                </a:solidFill>
                <a:latin typeface="Calibri"/>
              </a:rPr>
              <a:t>Two neighborhoods. One picture.</a:t>
            </a:r>
          </a:p>
        </p:txBody>
      </p:sp>
      <p:pic>
        <p:nvPicPr>
          <p:cNvPr id="4" name="Picture 3" descr="C_slo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750" y="1691640"/>
            <a:ext cx="6132195" cy="3383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5349240"/>
            <a:ext cx="9966960" cy="822960"/>
          </a:xfrm>
          <a:prstGeom prst="rect">
            <a:avLst/>
          </a:prstGeom>
          <a:solidFill>
            <a:srgbClr val="F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49240"/>
            <a:ext cx="73152" cy="822960"/>
          </a:xfrm>
          <a:prstGeom prst="rect">
            <a:avLst/>
          </a:prstGeom>
          <a:solidFill>
            <a:srgbClr val="A84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40680"/>
            <a:ext cx="9509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>
                <a:solidFill>
                  <a:srgbClr val="262626"/>
                </a:solidFill>
                <a:latin typeface="Calibri"/>
              </a:rPr>
              <a:t>On every measure that matters, these two neighborhoods are starting in different places. The widest gap — a 36-point difference in residents with elevated BMI — is the one we cannot ignore.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ONE CHART, FIVE FACTS  ·  PLAIN NUMBERS  ·  READABLE FOR EVERYONE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A6A6A6"/>
                </a:solidFill>
                <a:latin typeface="Calibri"/>
              </a:rPr>
              <a:t>WHAT I'D DO ABOUT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>
                <a:solidFill>
                  <a:srgbClr val="262626"/>
                </a:solidFill>
                <a:latin typeface="Calibri"/>
              </a:rPr>
              <a:t>Two neighborhoods. Two strategies.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5349240" cy="54864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42032"/>
            <a:ext cx="53492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200" b="1">
                <a:solidFill>
                  <a:srgbClr val="8B6F47"/>
                </a:solidFill>
                <a:latin typeface="Calibri"/>
              </a:rPr>
              <a:t>The Dunes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5349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• Spanish first</a:t>
            </a:r>
            <a:r>
              <a:rPr sz="1400">
                <a:solidFill>
                  <a:srgbClr val="595959"/>
                </a:solidFill>
                <a:latin typeface="Calibri"/>
              </a:rPr>
              <a:t> — written natively, plain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349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• Lead with health</a:t>
            </a:r>
            <a:r>
              <a:rPr sz="1400">
                <a:solidFill>
                  <a:srgbClr val="595959"/>
                </a:solidFill>
                <a:latin typeface="Calibri"/>
              </a:rPr>
              <a:t> — clinics, food access, family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5349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• Trusted messengers</a:t>
            </a:r>
            <a:r>
              <a:rPr sz="1400">
                <a:solidFill>
                  <a:srgbClr val="595959"/>
                </a:solidFill>
                <a:latin typeface="Calibri"/>
              </a:rPr>
              <a:t> — schools, faith leaders, community health workers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349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• Print, text, in-person</a:t>
            </a:r>
            <a:r>
              <a:rPr sz="1400">
                <a:solidFill>
                  <a:srgbClr val="595959"/>
                </a:solidFill>
                <a:latin typeface="Calibri"/>
              </a:rPr>
              <a:t> — meet people on the channels they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377440"/>
            <a:ext cx="5349240" cy="54864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42032"/>
            <a:ext cx="53492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200" b="1">
                <a:solidFill>
                  <a:srgbClr val="2C7A7B"/>
                </a:solidFill>
                <a:latin typeface="Calibri"/>
              </a:rPr>
              <a:t>Palm Haven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54680"/>
            <a:ext cx="5349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• Digital-first</a:t>
            </a:r>
            <a:r>
              <a:rPr sz="1400">
                <a:solidFill>
                  <a:srgbClr val="595959"/>
                </a:solidFill>
                <a:latin typeface="Calibri"/>
              </a:rPr>
              <a:t> — screen-reader friendly, captioned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5349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• Lead with civic engagement</a:t>
            </a:r>
            <a:r>
              <a:rPr sz="1400">
                <a:solidFill>
                  <a:srgbClr val="595959"/>
                </a:solidFill>
                <a:latin typeface="Calibri"/>
              </a:rPr>
              <a:t> — volunteering, advocacy, town halls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160520"/>
            <a:ext cx="5349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• Self-serve resources</a:t>
            </a:r>
            <a:r>
              <a:rPr sz="1400">
                <a:solidFill>
                  <a:srgbClr val="595959"/>
                </a:solidFill>
                <a:latin typeface="Calibri"/>
              </a:rPr>
              <a:t> — clear portals, on-demand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663440"/>
            <a:ext cx="5349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• Monthly newsletter</a:t>
            </a:r>
            <a:r>
              <a:rPr sz="1400">
                <a:solidFill>
                  <a:srgbClr val="595959"/>
                </a:solidFill>
                <a:latin typeface="Calibri"/>
              </a:rPr>
              <a:t> — opt-in, data-rich, transparent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852160"/>
            <a:ext cx="9966960" cy="822960"/>
          </a:xfrm>
          <a:prstGeom prst="rect">
            <a:avLst/>
          </a:prstGeom>
          <a:solidFill>
            <a:srgbClr val="F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5852160"/>
            <a:ext cx="73152" cy="822960"/>
          </a:xfrm>
          <a:prstGeom prst="rect">
            <a:avLst/>
          </a:prstGeom>
          <a:solidFill>
            <a:srgbClr val="A84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943600"/>
            <a:ext cx="9509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>
                <a:solidFill>
                  <a:srgbClr val="262626"/>
                </a:solidFill>
                <a:latin typeface="Calibri"/>
              </a:rPr>
              <a:t>The goal — every Clear City resident reached on a channel they use, in a language they speak, at a reading level they understand.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A6A6A6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2286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4400" b="1">
                <a:solidFill>
                  <a:srgbClr val="262626"/>
                </a:solidFill>
                <a:latin typeface="Calibri"/>
              </a:rPr>
              <a:t>I'd be honored to do this work for Clear 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Calibri"/>
              </a:rPr>
              <a:t>Two neighborhoods. Two strategies. One goal — every resident reached.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A6A6A6"/>
                </a:solidFill>
                <a:latin typeface="Calibri"/>
              </a:rPr>
              <a:t>APPENDIX · ZOOMING IN ON 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>
                <a:solidFill>
                  <a:srgbClr val="262626"/>
                </a:solidFill>
                <a:latin typeface="Calibri"/>
              </a:rPr>
              <a:t>The 36-point gap, on its own.</a:t>
            </a:r>
          </a:p>
        </p:txBody>
      </p:sp>
      <p:pic>
        <p:nvPicPr>
          <p:cNvPr id="4" name="Picture 3" descr="A_do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691640"/>
            <a:ext cx="10515600" cy="3535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A6A6A6"/>
                </a:solidFill>
                <a:latin typeface="Calibri"/>
              </a:rPr>
              <a:t>APPENDIX · ALL METRICS,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>
                <a:solidFill>
                  <a:srgbClr val="262626"/>
                </a:solidFill>
                <a:latin typeface="Calibri"/>
              </a:rPr>
              <a:t>Every metric, paired and labeled.</a:t>
            </a:r>
          </a:p>
        </p:txBody>
      </p:sp>
      <p:pic>
        <p:nvPicPr>
          <p:cNvPr id="4" name="Picture 3" descr="B_lollip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94" y="1691640"/>
            <a:ext cx="9315106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A6A6A6"/>
                </a:solidFill>
                <a:latin typeface="Calibri"/>
              </a:rPr>
              <a:t>APPENDIX · INCOME, IN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000" b="1">
                <a:solidFill>
                  <a:srgbClr val="262626"/>
                </a:solidFill>
                <a:latin typeface="Calibri"/>
              </a:rPr>
              <a:t>Incomes pulling in opposite directions.</a:t>
            </a:r>
          </a:p>
        </p:txBody>
      </p:sp>
      <p:pic>
        <p:nvPicPr>
          <p:cNvPr id="4" name="Picture 3" descr="D_diverging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294" y="1691640"/>
            <a:ext cx="8869107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