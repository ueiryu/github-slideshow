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 afternoon]. I'm [your name], applying for Communications Director.</a:t>
            </a:r>
          </a:p>
          <a:p/>
          <a:p>
            <a:r>
              <a:t>Two weeks ago I gave you a three-minute draft of this talk. You gave me thoughtful feedback. Today's seven-minute version is what I built from it — a fuller view of the data, a more concrete strategy, and a clearer plan for how I'd measure whether it's working.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neighborhoods, both in Clear City. The Dunes — twelve hundred residents, working-class, younger, more multilingual, with serious health needs. Palm Haven — eight hundred residents, mid-to-upper income, digitally connected, civically engaged. Same city, same services on offer. The data tells me they need profoundly different communications. Let me show you why.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things I looked at — health, age, language, and the two ends of the income spectrum. I picked these because each one changes how we should communicate. Health drives what we lead with. Age affects how we talk to families. Language affects whether we get through at all. And income shapes which channels reach people.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look at the same data tilted ninety degrees. Each line connects the same metric across the two neighborhoods. The steeper the line, the bigger the gap. Four of the five lines slope downward — The Dunes higher than Palm Haven on health risk, children, Spanish at home, and lower income. One line goes the other way — higher income, where Palm Haven is far ahead. The steepest line — and the most consequential one — is the health gap.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Fifty-nine percent of Dunes residents are at elevated weight risk. Twenty-three percent in Palm Haven. A thirty-six-point gap. For context: a thirty-six-point gap is the difference between a public-health emergency and a healthy community.</a:t>
            </a:r>
          </a:p>
          <a:p/>
          <a:p>
            <a:r>
              <a:t>In Palm Haven, health is one campaign a year. In The Dunes, it's the through-line of everything we publish — every newsletter, every event, every billboard touches it somehow.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Income flips the script. Sixty-nine percent of Dunes households earn under twenty-five thousand a year. Forty-five percent of Palm Haven households earn over forty thousand. That gap matters because it shapes which channels actually reach people. Households in The Dunes are less likely to have unlimited data — so print, text, and in-person aren't fallbacks, they're the front door. Households in Palm Haven have all of those things. Email and self-serve portals aren't shortcuts — they're respectful of how this community wants to engage.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strategies, not one. The Dunes — Spanish first, written natively. Plain language. Health as the through-line. Trusted messengers — schools, faith leaders, community health workers — carry the message. Print, text, in-person. Same message, three formats.</a:t>
            </a:r>
          </a:p>
          <a:p/>
          <a:p>
            <a:r>
              <a:t>Palm Haven — digital-first works. Captioned video, screen-reader friendly. Lead with civic engagement. Self-serve, transparent, data-rich. Two-way — comment forms, surveys, public meetings. They want to engage with us, not just receive 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Sequenced. Measurable. Honest.</a:t>
            </a:r>
          </a:p>
          <a:p/>
          <a:p>
            <a:r>
              <a:t>First thirty days — audit. I don't translate anything until I understand what's already in market. Next thirty — build. A Spanish-language editor. An accessibility checklist on every asset. Final thirty — re-mix. SMS for The Dunes. A clean email program for Palm Haven. Sunset what isn't working.</a:t>
            </a:r>
          </a:p>
          <a:p/>
          <a:p>
            <a:r>
              <a:t>And here's how I'll know it's working — reach by neighborhood, never aggregate, because aggregate dashboards hide the gap. Outcome metrics tied to program goals. Accessibility scans. And short trust surveys, before and after every event.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I'd be honored to do this work for Clear City.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640080"/>
            <a:ext cx="12191695" cy="365760"/>
          </a:xfrm>
          <a:prstGeom prst="rect">
            <a:avLst/>
          </a:prstGeom>
          <a:noFill/>
        </p:spPr>
        <p:txBody>
          <a:bodyPr wrap="square" lIns="0" rIns="0" anchor="t">
            <a:spAutoFit/>
          </a:bodyPr>
          <a:lstStyle/>
          <a:p>
            <a:pPr algn="ctr"/>
            <a:r>
              <a:rPr sz="1100" b="1">
                <a:solidFill>
                  <a:srgbClr val="A6A6A6"/>
                </a:solidFill>
                <a:latin typeface="Calibri"/>
              </a:rPr>
              <a:t>CLEAR CITY · COMMUNICATIONS DIRECTOR · FINAL PRESENTATION</a:t>
            </a:r>
          </a:p>
        </p:txBody>
      </p:sp>
      <p:sp>
        <p:nvSpPr>
          <p:cNvPr id="3" name="TextBox 2"/>
          <p:cNvSpPr txBox="1"/>
          <p:nvPr/>
        </p:nvSpPr>
        <p:spPr>
          <a:xfrm>
            <a:off x="0" y="2194560"/>
            <a:ext cx="12191695" cy="1828800"/>
          </a:xfrm>
          <a:prstGeom prst="rect">
            <a:avLst/>
          </a:prstGeom>
          <a:noFill/>
        </p:spPr>
        <p:txBody>
          <a:bodyPr wrap="square" lIns="0" rIns="0" anchor="ctr">
            <a:spAutoFit/>
          </a:bodyPr>
          <a:lstStyle/>
          <a:p>
            <a:pPr algn="ctr"/>
            <a:r>
              <a:rPr sz="5400" b="1">
                <a:solidFill>
                  <a:srgbClr val="262626"/>
                </a:solidFill>
                <a:latin typeface="Calibri"/>
              </a:rPr>
              <a:t>Two Neighborhoods, </a:t>
            </a:r>
            <a:r>
              <a:rPr sz="5400" b="1">
                <a:solidFill>
                  <a:srgbClr val="8B6F47"/>
                </a:solidFill>
                <a:latin typeface="Calibri"/>
              </a:rPr>
              <a:t>Two </a:t>
            </a:r>
            <a:r>
              <a:rPr sz="5400" b="1">
                <a:solidFill>
                  <a:srgbClr val="2C7A7B"/>
                </a:solidFill>
                <a:latin typeface="Calibri"/>
              </a:rPr>
              <a:t>Communications Strategies</a:t>
            </a:r>
          </a:p>
        </p:txBody>
      </p:sp>
      <p:sp>
        <p:nvSpPr>
          <p:cNvPr id="4" name="TextBox 3"/>
          <p:cNvSpPr txBox="1"/>
          <p:nvPr/>
        </p:nvSpPr>
        <p:spPr>
          <a:xfrm>
            <a:off x="0" y="4206240"/>
            <a:ext cx="12191695" cy="457200"/>
          </a:xfrm>
          <a:prstGeom prst="rect">
            <a:avLst/>
          </a:prstGeom>
          <a:noFill/>
        </p:spPr>
        <p:txBody>
          <a:bodyPr wrap="square" lIns="0" rIns="0" anchor="t">
            <a:spAutoFit/>
          </a:bodyPr>
          <a:lstStyle/>
          <a:p>
            <a:pPr algn="ctr"/>
            <a:r>
              <a:rPr sz="1800" b="0">
                <a:solidFill>
                  <a:srgbClr val="595959"/>
                </a:solidFill>
                <a:latin typeface="Calibri"/>
              </a:rPr>
              <a:t>A data-informed, equity-first approach for Clear City</a:t>
            </a:r>
          </a:p>
        </p:txBody>
      </p:sp>
      <p:sp>
        <p:nvSpPr>
          <p:cNvPr id="5" name="TextBox 4"/>
          <p:cNvSpPr txBox="1"/>
          <p:nvPr/>
        </p:nvSpPr>
        <p:spPr>
          <a:xfrm>
            <a:off x="0" y="4754880"/>
            <a:ext cx="12191695" cy="457200"/>
          </a:xfrm>
          <a:prstGeom prst="rect">
            <a:avLst/>
          </a:prstGeom>
          <a:noFill/>
        </p:spPr>
        <p:txBody>
          <a:bodyPr wrap="square" lIns="0" rIns="0" anchor="t">
            <a:spAutoFit/>
          </a:bodyPr>
          <a:lstStyle/>
          <a:p>
            <a:pPr algn="ctr"/>
            <a:r>
              <a:rPr sz="1400" b="0">
                <a:solidFill>
                  <a:srgbClr val="595959"/>
                </a:solidFill>
                <a:latin typeface="Calibri"/>
              </a:rPr>
              <a:t/>
            </a:r>
          </a:p>
        </p:txBody>
      </p:sp>
      <p:sp>
        <p:nvSpPr>
          <p:cNvPr id="6" name="TextBox 5"/>
          <p:cNvSpPr txBox="1"/>
          <p:nvPr/>
        </p:nvSpPr>
        <p:spPr>
          <a:xfrm>
            <a:off x="0" y="6446520"/>
            <a:ext cx="12191695" cy="274320"/>
          </a:xfrm>
          <a:prstGeom prst="rect">
            <a:avLst/>
          </a:prstGeom>
          <a:noFill/>
        </p:spPr>
        <p:txBody>
          <a:bodyPr wrap="square" lIns="0" rIns="0" anchor="t">
            <a:spAutoFit/>
          </a:bodyPr>
          <a:lstStyle/>
          <a:p>
            <a:pPr algn="ctr"/>
            <a:r>
              <a:rPr sz="900" b="0">
                <a:solidFill>
                  <a:srgbClr val="A6A6A6"/>
                </a:solidFill>
                <a:latin typeface="Calibri"/>
              </a:rPr>
              <a:t>CLARITY  ·  EQUITY  ·  ACCESS FOR EVERY RESIDENT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0972800" cy="365760"/>
          </a:xfrm>
          <a:prstGeom prst="rect">
            <a:avLst/>
          </a:prstGeom>
          <a:noFill/>
        </p:spPr>
        <p:txBody>
          <a:bodyPr wrap="square" lIns="0" rIns="0" anchor="t">
            <a:spAutoFit/>
          </a:bodyPr>
          <a:lstStyle/>
          <a:p>
            <a:pPr algn="l"/>
            <a:r>
              <a:rPr sz="1100" b="1">
                <a:solidFill>
                  <a:srgbClr val="A6A6A6"/>
                </a:solidFill>
                <a:latin typeface="Calibri"/>
              </a:rPr>
              <a:t>THE BRIEF, IN ONE SLIDE</a:t>
            </a:r>
          </a:p>
        </p:txBody>
      </p:sp>
      <p:sp>
        <p:nvSpPr>
          <p:cNvPr id="3" name="TextBox 2"/>
          <p:cNvSpPr txBox="1"/>
          <p:nvPr/>
        </p:nvSpPr>
        <p:spPr>
          <a:xfrm>
            <a:off x="548640" y="868680"/>
            <a:ext cx="10972800" cy="640080"/>
          </a:xfrm>
          <a:prstGeom prst="rect">
            <a:avLst/>
          </a:prstGeom>
          <a:noFill/>
        </p:spPr>
        <p:txBody>
          <a:bodyPr wrap="square" lIns="0" rIns="0" anchor="t">
            <a:spAutoFit/>
          </a:bodyPr>
          <a:lstStyle/>
          <a:p>
            <a:pPr algn="l"/>
            <a:r>
              <a:rPr sz="3000" b="1">
                <a:solidFill>
                  <a:srgbClr val="262626"/>
                </a:solidFill>
                <a:latin typeface="Calibri"/>
              </a:rPr>
              <a:t>Two neighborhoods inside one city.</a:t>
            </a:r>
          </a:p>
        </p:txBody>
      </p:sp>
      <p:sp>
        <p:nvSpPr>
          <p:cNvPr id="4" name="Rectangle 3"/>
          <p:cNvSpPr/>
          <p:nvPr/>
        </p:nvSpPr>
        <p:spPr>
          <a:xfrm>
            <a:off x="731520" y="2377440"/>
            <a:ext cx="5349240" cy="54864"/>
          </a:xfrm>
          <a:prstGeom prst="rect">
            <a:avLst/>
          </a:prstGeom>
          <a:solidFill>
            <a:srgbClr val="8B6F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542032"/>
            <a:ext cx="5349240" cy="457200"/>
          </a:xfrm>
          <a:prstGeom prst="rect">
            <a:avLst/>
          </a:prstGeom>
          <a:noFill/>
        </p:spPr>
        <p:txBody>
          <a:bodyPr wrap="square" lIns="0" rIns="0" anchor="t">
            <a:spAutoFit/>
          </a:bodyPr>
          <a:lstStyle/>
          <a:p>
            <a:pPr algn="l"/>
            <a:r>
              <a:rPr sz="2200" b="1">
                <a:solidFill>
                  <a:srgbClr val="8B6F47"/>
                </a:solidFill>
                <a:latin typeface="Calibri"/>
              </a:rPr>
              <a:t>The Dunes</a:t>
            </a:r>
          </a:p>
        </p:txBody>
      </p:sp>
      <p:sp>
        <p:nvSpPr>
          <p:cNvPr id="6" name="TextBox 5"/>
          <p:cNvSpPr txBox="1"/>
          <p:nvPr/>
        </p:nvSpPr>
        <p:spPr>
          <a:xfrm>
            <a:off x="731520" y="3154680"/>
            <a:ext cx="5349240" cy="502920"/>
          </a:xfrm>
          <a:prstGeom prst="rect">
            <a:avLst/>
          </a:prstGeom>
          <a:noFill/>
        </p:spPr>
        <p:txBody>
          <a:bodyPr wrap="square" lIns="0" rIns="0">
            <a:spAutoFit/>
          </a:bodyPr>
          <a:lstStyle/>
          <a:p>
            <a:pPr algn="l"/>
            <a:r>
              <a:rPr sz="1400" b="1">
                <a:solidFill>
                  <a:srgbClr val="262626"/>
                </a:solidFill>
                <a:latin typeface="Calibri"/>
              </a:rPr>
              <a:t>• 1,200 residents</a:t>
            </a:r>
            <a:r>
              <a:rPr sz="1400">
                <a:solidFill>
                  <a:srgbClr val="595959"/>
                </a:solidFill>
                <a:latin typeface="Calibri"/>
              </a:rPr>
              <a:t> — </a:t>
            </a:r>
          </a:p>
        </p:txBody>
      </p:sp>
      <p:sp>
        <p:nvSpPr>
          <p:cNvPr id="7" name="TextBox 6"/>
          <p:cNvSpPr txBox="1"/>
          <p:nvPr/>
        </p:nvSpPr>
        <p:spPr>
          <a:xfrm>
            <a:off x="731520" y="3657600"/>
            <a:ext cx="5349240" cy="502920"/>
          </a:xfrm>
          <a:prstGeom prst="rect">
            <a:avLst/>
          </a:prstGeom>
          <a:noFill/>
        </p:spPr>
        <p:txBody>
          <a:bodyPr wrap="square" lIns="0" rIns="0">
            <a:spAutoFit/>
          </a:bodyPr>
          <a:lstStyle/>
          <a:p>
            <a:pPr algn="l"/>
            <a:r>
              <a:rPr sz="1400" b="1">
                <a:solidFill>
                  <a:srgbClr val="262626"/>
                </a:solidFill>
                <a:latin typeface="Calibri"/>
              </a:rPr>
              <a:t>• Working-class</a:t>
            </a:r>
            <a:r>
              <a:rPr sz="1400">
                <a:solidFill>
                  <a:srgbClr val="595959"/>
                </a:solidFill>
                <a:latin typeface="Calibri"/>
              </a:rPr>
              <a:t> — younger, multilingual</a:t>
            </a:r>
          </a:p>
        </p:txBody>
      </p:sp>
      <p:sp>
        <p:nvSpPr>
          <p:cNvPr id="8" name="TextBox 7"/>
          <p:cNvSpPr txBox="1"/>
          <p:nvPr/>
        </p:nvSpPr>
        <p:spPr>
          <a:xfrm>
            <a:off x="731520" y="4160520"/>
            <a:ext cx="5349240" cy="502920"/>
          </a:xfrm>
          <a:prstGeom prst="rect">
            <a:avLst/>
          </a:prstGeom>
          <a:noFill/>
        </p:spPr>
        <p:txBody>
          <a:bodyPr wrap="square" lIns="0" rIns="0">
            <a:spAutoFit/>
          </a:bodyPr>
          <a:lstStyle/>
          <a:p>
            <a:pPr algn="l"/>
            <a:r>
              <a:rPr sz="1400" b="1">
                <a:solidFill>
                  <a:srgbClr val="262626"/>
                </a:solidFill>
                <a:latin typeface="Calibri"/>
              </a:rPr>
              <a:t>• Significant health needs</a:t>
            </a:r>
            <a:r>
              <a:rPr sz="1400">
                <a:solidFill>
                  <a:srgbClr val="595959"/>
                </a:solidFill>
                <a:latin typeface="Calibri"/>
              </a:rPr>
              <a:t> — elevated BMI affects 59% of residents</a:t>
            </a:r>
          </a:p>
        </p:txBody>
      </p:sp>
      <p:sp>
        <p:nvSpPr>
          <p:cNvPr id="9" name="Rectangle 8"/>
          <p:cNvSpPr/>
          <p:nvPr/>
        </p:nvSpPr>
        <p:spPr>
          <a:xfrm>
            <a:off x="6446520" y="2377440"/>
            <a:ext cx="5349240" cy="54864"/>
          </a:xfrm>
          <a:prstGeom prst="rect">
            <a:avLst/>
          </a:prstGeom>
          <a:solidFill>
            <a:srgbClr val="2C7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542032"/>
            <a:ext cx="5349240" cy="457200"/>
          </a:xfrm>
          <a:prstGeom prst="rect">
            <a:avLst/>
          </a:prstGeom>
          <a:noFill/>
        </p:spPr>
        <p:txBody>
          <a:bodyPr wrap="square" lIns="0" rIns="0" anchor="t">
            <a:spAutoFit/>
          </a:bodyPr>
          <a:lstStyle/>
          <a:p>
            <a:pPr algn="l"/>
            <a:r>
              <a:rPr sz="2200" b="1">
                <a:solidFill>
                  <a:srgbClr val="2C7A7B"/>
                </a:solidFill>
                <a:latin typeface="Calibri"/>
              </a:rPr>
              <a:t>Palm Haven</a:t>
            </a:r>
          </a:p>
        </p:txBody>
      </p:sp>
      <p:sp>
        <p:nvSpPr>
          <p:cNvPr id="11" name="TextBox 10"/>
          <p:cNvSpPr txBox="1"/>
          <p:nvPr/>
        </p:nvSpPr>
        <p:spPr>
          <a:xfrm>
            <a:off x="6446520" y="3154680"/>
            <a:ext cx="5349240" cy="502920"/>
          </a:xfrm>
          <a:prstGeom prst="rect">
            <a:avLst/>
          </a:prstGeom>
          <a:noFill/>
        </p:spPr>
        <p:txBody>
          <a:bodyPr wrap="square" lIns="0" rIns="0">
            <a:spAutoFit/>
          </a:bodyPr>
          <a:lstStyle/>
          <a:p>
            <a:pPr algn="l"/>
            <a:r>
              <a:rPr sz="1400" b="1">
                <a:solidFill>
                  <a:srgbClr val="262626"/>
                </a:solidFill>
                <a:latin typeface="Calibri"/>
              </a:rPr>
              <a:t>• 800 residents</a:t>
            </a:r>
            <a:r>
              <a:rPr sz="1400">
                <a:solidFill>
                  <a:srgbClr val="595959"/>
                </a:solidFill>
                <a:latin typeface="Calibri"/>
              </a:rPr>
              <a:t> — </a:t>
            </a:r>
          </a:p>
        </p:txBody>
      </p:sp>
      <p:sp>
        <p:nvSpPr>
          <p:cNvPr id="12" name="TextBox 11"/>
          <p:cNvSpPr txBox="1"/>
          <p:nvPr/>
        </p:nvSpPr>
        <p:spPr>
          <a:xfrm>
            <a:off x="6446520" y="3657600"/>
            <a:ext cx="5349240" cy="502920"/>
          </a:xfrm>
          <a:prstGeom prst="rect">
            <a:avLst/>
          </a:prstGeom>
          <a:noFill/>
        </p:spPr>
        <p:txBody>
          <a:bodyPr wrap="square" lIns="0" rIns="0">
            <a:spAutoFit/>
          </a:bodyPr>
          <a:lstStyle/>
          <a:p>
            <a:pPr algn="l"/>
            <a:r>
              <a:rPr sz="1400" b="1">
                <a:solidFill>
                  <a:srgbClr val="262626"/>
                </a:solidFill>
                <a:latin typeface="Calibri"/>
              </a:rPr>
              <a:t>• Mid-to-upper income</a:t>
            </a:r>
            <a:r>
              <a:rPr sz="1400">
                <a:solidFill>
                  <a:srgbClr val="595959"/>
                </a:solidFill>
                <a:latin typeface="Calibri"/>
              </a:rPr>
              <a:t> — strong digital access</a:t>
            </a:r>
          </a:p>
        </p:txBody>
      </p:sp>
      <p:sp>
        <p:nvSpPr>
          <p:cNvPr id="13" name="TextBox 12"/>
          <p:cNvSpPr txBox="1"/>
          <p:nvPr/>
        </p:nvSpPr>
        <p:spPr>
          <a:xfrm>
            <a:off x="6446520" y="4160520"/>
            <a:ext cx="5349240" cy="502920"/>
          </a:xfrm>
          <a:prstGeom prst="rect">
            <a:avLst/>
          </a:prstGeom>
          <a:noFill/>
        </p:spPr>
        <p:txBody>
          <a:bodyPr wrap="square" lIns="0" rIns="0">
            <a:spAutoFit/>
          </a:bodyPr>
          <a:lstStyle/>
          <a:p>
            <a:pPr algn="l"/>
            <a:r>
              <a:rPr sz="1400" b="1">
                <a:solidFill>
                  <a:srgbClr val="262626"/>
                </a:solidFill>
                <a:latin typeface="Calibri"/>
              </a:rPr>
              <a:t>• High civic engagement</a:t>
            </a:r>
            <a:r>
              <a:rPr sz="1400">
                <a:solidFill>
                  <a:srgbClr val="595959"/>
                </a:solidFill>
                <a:latin typeface="Calibri"/>
              </a:rPr>
              <a:t> — engaged with city services</a:t>
            </a:r>
          </a:p>
        </p:txBody>
      </p:sp>
      <p:sp>
        <p:nvSpPr>
          <p:cNvPr id="14" name="Rectangle 13"/>
          <p:cNvSpPr/>
          <p:nvPr/>
        </p:nvSpPr>
        <p:spPr>
          <a:xfrm>
            <a:off x="1097280" y="5852160"/>
            <a:ext cx="9966960" cy="822960"/>
          </a:xfrm>
          <a:prstGeom prst="rect">
            <a:avLst/>
          </a:prstGeom>
          <a:solidFill>
            <a:srgbClr val="F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 y="5852160"/>
            <a:ext cx="73152" cy="822960"/>
          </a:xfrm>
          <a:prstGeom prst="rect">
            <a:avLst/>
          </a:prstGeom>
          <a:solidFill>
            <a:srgbClr val="A843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1600" y="5943600"/>
            <a:ext cx="9509760" cy="640080"/>
          </a:xfrm>
          <a:prstGeom prst="rect">
            <a:avLst/>
          </a:prstGeom>
          <a:noFill/>
        </p:spPr>
        <p:txBody>
          <a:bodyPr wrap="square" anchor="ctr">
            <a:spAutoFit/>
          </a:bodyPr>
          <a:lstStyle/>
          <a:p>
            <a:r>
              <a:rPr sz="1500">
                <a:solidFill>
                  <a:srgbClr val="262626"/>
                </a:solidFill>
                <a:latin typeface="Calibri"/>
              </a:rPr>
              <a:t>Same city. Same services on offer. Profoundly different starting points — and that means our communications cannot be one-size-fits-all.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0972800" cy="365760"/>
          </a:xfrm>
          <a:prstGeom prst="rect">
            <a:avLst/>
          </a:prstGeom>
          <a:noFill/>
        </p:spPr>
        <p:txBody>
          <a:bodyPr wrap="square" lIns="0" rIns="0" anchor="t">
            <a:spAutoFit/>
          </a:bodyPr>
          <a:lstStyle/>
          <a:p>
            <a:pPr algn="l"/>
            <a:r>
              <a:rPr sz="1100" b="1">
                <a:solidFill>
                  <a:srgbClr val="A6A6A6"/>
                </a:solidFill>
                <a:latin typeface="Calibri"/>
              </a:rPr>
              <a:t>FIVE THINGS I LOOKED AT</a:t>
            </a:r>
          </a:p>
        </p:txBody>
      </p:sp>
      <p:sp>
        <p:nvSpPr>
          <p:cNvPr id="3" name="TextBox 2"/>
          <p:cNvSpPr txBox="1"/>
          <p:nvPr/>
        </p:nvSpPr>
        <p:spPr>
          <a:xfrm>
            <a:off x="548640" y="868680"/>
            <a:ext cx="10972800" cy="640080"/>
          </a:xfrm>
          <a:prstGeom prst="rect">
            <a:avLst/>
          </a:prstGeom>
          <a:noFill/>
        </p:spPr>
        <p:txBody>
          <a:bodyPr wrap="square" lIns="0" rIns="0" anchor="t">
            <a:spAutoFit/>
          </a:bodyPr>
          <a:lstStyle/>
          <a:p>
            <a:pPr algn="l"/>
            <a:r>
              <a:rPr sz="3000" b="1">
                <a:solidFill>
                  <a:srgbClr val="262626"/>
                </a:solidFill>
                <a:latin typeface="Calibri"/>
              </a:rPr>
              <a:t>The metrics that matter for outreach.</a:t>
            </a:r>
          </a:p>
        </p:txBody>
      </p:sp>
      <p:pic>
        <p:nvPicPr>
          <p:cNvPr id="4" name="Picture 3" descr="B_lollipop.png"/>
          <p:cNvPicPr>
            <a:picLocks noChangeAspect="1"/>
          </p:cNvPicPr>
          <p:nvPr/>
        </p:nvPicPr>
        <p:blipFill>
          <a:blip r:embed="rId2"/>
          <a:stretch>
            <a:fillRect/>
          </a:stretch>
        </p:blipFill>
        <p:spPr>
          <a:xfrm>
            <a:off x="1438294" y="1691640"/>
            <a:ext cx="9315106" cy="42062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0972800" cy="365760"/>
          </a:xfrm>
          <a:prstGeom prst="rect">
            <a:avLst/>
          </a:prstGeom>
          <a:noFill/>
        </p:spPr>
        <p:txBody>
          <a:bodyPr wrap="square" lIns="0" rIns="0" anchor="t">
            <a:spAutoFit/>
          </a:bodyPr>
          <a:lstStyle/>
          <a:p>
            <a:pPr algn="l"/>
            <a:r>
              <a:rPr sz="1100" b="1">
                <a:solidFill>
                  <a:srgbClr val="A6A6A6"/>
                </a:solidFill>
                <a:latin typeface="Calibri"/>
              </a:rPr>
              <a:t>THE GAPS TELL A STORY</a:t>
            </a:r>
          </a:p>
        </p:txBody>
      </p:sp>
      <p:sp>
        <p:nvSpPr>
          <p:cNvPr id="3" name="TextBox 2"/>
          <p:cNvSpPr txBox="1"/>
          <p:nvPr/>
        </p:nvSpPr>
        <p:spPr>
          <a:xfrm>
            <a:off x="548640" y="868680"/>
            <a:ext cx="10972800" cy="640080"/>
          </a:xfrm>
          <a:prstGeom prst="rect">
            <a:avLst/>
          </a:prstGeom>
          <a:noFill/>
        </p:spPr>
        <p:txBody>
          <a:bodyPr wrap="square" lIns="0" rIns="0" anchor="t">
            <a:spAutoFit/>
          </a:bodyPr>
          <a:lstStyle/>
          <a:p>
            <a:pPr algn="l"/>
            <a:r>
              <a:rPr sz="3000" b="1">
                <a:solidFill>
                  <a:srgbClr val="262626"/>
                </a:solidFill>
                <a:latin typeface="Calibri"/>
              </a:rPr>
              <a:t>Same data. Tilted view. Different revelation.</a:t>
            </a:r>
          </a:p>
        </p:txBody>
      </p:sp>
      <p:pic>
        <p:nvPicPr>
          <p:cNvPr id="4" name="Picture 3" descr="C_slope_chart.png"/>
          <p:cNvPicPr>
            <a:picLocks noChangeAspect="1"/>
          </p:cNvPicPr>
          <p:nvPr/>
        </p:nvPicPr>
        <p:blipFill>
          <a:blip r:embed="rId2"/>
          <a:stretch>
            <a:fillRect/>
          </a:stretch>
        </p:blipFill>
        <p:spPr>
          <a:xfrm>
            <a:off x="3029750" y="1691640"/>
            <a:ext cx="6132195" cy="3383280"/>
          </a:xfrm>
          <a:prstGeom prst="rect">
            <a:avLst/>
          </a:prstGeom>
        </p:spPr>
      </p:pic>
      <p:sp>
        <p:nvSpPr>
          <p:cNvPr id="5" name="Rectangle 4"/>
          <p:cNvSpPr/>
          <p:nvPr/>
        </p:nvSpPr>
        <p:spPr>
          <a:xfrm>
            <a:off x="1097280" y="5349240"/>
            <a:ext cx="9966960" cy="822960"/>
          </a:xfrm>
          <a:prstGeom prst="rect">
            <a:avLst/>
          </a:prstGeom>
          <a:solidFill>
            <a:srgbClr val="F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5349240"/>
            <a:ext cx="73152" cy="822960"/>
          </a:xfrm>
          <a:prstGeom prst="rect">
            <a:avLst/>
          </a:prstGeom>
          <a:solidFill>
            <a:srgbClr val="A843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5440680"/>
            <a:ext cx="9509760" cy="640080"/>
          </a:xfrm>
          <a:prstGeom prst="rect">
            <a:avLst/>
          </a:prstGeom>
          <a:noFill/>
        </p:spPr>
        <p:txBody>
          <a:bodyPr wrap="square" anchor="ctr">
            <a:spAutoFit/>
          </a:bodyPr>
          <a:lstStyle/>
          <a:p>
            <a:r>
              <a:rPr sz="1500">
                <a:solidFill>
                  <a:srgbClr val="262626"/>
                </a:solidFill>
                <a:latin typeface="Calibri"/>
              </a:rPr>
              <a:t>Every metric diverges. The steepest line — the 36-point health gap — is the one I cannot ignore.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0972800" cy="365760"/>
          </a:xfrm>
          <a:prstGeom prst="rect">
            <a:avLst/>
          </a:prstGeom>
          <a:noFill/>
        </p:spPr>
        <p:txBody>
          <a:bodyPr wrap="square" lIns="0" rIns="0" anchor="t">
            <a:spAutoFit/>
          </a:bodyPr>
          <a:lstStyle/>
          <a:p>
            <a:pPr algn="l"/>
            <a:r>
              <a:rPr sz="1100" b="1">
                <a:solidFill>
                  <a:srgbClr val="A6A6A6"/>
                </a:solidFill>
                <a:latin typeface="Calibri"/>
              </a:rPr>
              <a:t>THE HEADLINE</a:t>
            </a:r>
          </a:p>
        </p:txBody>
      </p:sp>
      <p:sp>
        <p:nvSpPr>
          <p:cNvPr id="3" name="TextBox 2"/>
          <p:cNvSpPr txBox="1"/>
          <p:nvPr/>
        </p:nvSpPr>
        <p:spPr>
          <a:xfrm>
            <a:off x="548640" y="868680"/>
            <a:ext cx="10972800" cy="640080"/>
          </a:xfrm>
          <a:prstGeom prst="rect">
            <a:avLst/>
          </a:prstGeom>
          <a:noFill/>
        </p:spPr>
        <p:txBody>
          <a:bodyPr wrap="square" lIns="0" rIns="0" anchor="t">
            <a:spAutoFit/>
          </a:bodyPr>
          <a:lstStyle/>
          <a:p>
            <a:pPr algn="l"/>
            <a:r>
              <a:rPr sz="3000" b="1">
                <a:solidFill>
                  <a:srgbClr val="262626"/>
                </a:solidFill>
                <a:latin typeface="Calibri"/>
              </a:rPr>
              <a:t>A 36-point health gap.</a:t>
            </a:r>
          </a:p>
        </p:txBody>
      </p:sp>
      <p:pic>
        <p:nvPicPr>
          <p:cNvPr id="4" name="Picture 3" descr="A_dot_plot.png"/>
          <p:cNvPicPr>
            <a:picLocks noChangeAspect="1"/>
          </p:cNvPicPr>
          <p:nvPr/>
        </p:nvPicPr>
        <p:blipFill>
          <a:blip r:embed="rId2"/>
          <a:stretch>
            <a:fillRect/>
          </a:stretch>
        </p:blipFill>
        <p:spPr>
          <a:xfrm>
            <a:off x="1064802" y="1691640"/>
            <a:ext cx="10062089" cy="3383280"/>
          </a:xfrm>
          <a:prstGeom prst="rect">
            <a:avLst/>
          </a:prstGeom>
        </p:spPr>
      </p:pic>
      <p:sp>
        <p:nvSpPr>
          <p:cNvPr id="5" name="Rectangle 4"/>
          <p:cNvSpPr/>
          <p:nvPr/>
        </p:nvSpPr>
        <p:spPr>
          <a:xfrm>
            <a:off x="1097280" y="5349240"/>
            <a:ext cx="9966960" cy="822960"/>
          </a:xfrm>
          <a:prstGeom prst="rect">
            <a:avLst/>
          </a:prstGeom>
          <a:solidFill>
            <a:srgbClr val="F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5349240"/>
            <a:ext cx="73152" cy="822960"/>
          </a:xfrm>
          <a:prstGeom prst="rect">
            <a:avLst/>
          </a:prstGeom>
          <a:solidFill>
            <a:srgbClr val="A843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5440680"/>
            <a:ext cx="9509760" cy="640080"/>
          </a:xfrm>
          <a:prstGeom prst="rect">
            <a:avLst/>
          </a:prstGeom>
          <a:noFill/>
        </p:spPr>
        <p:txBody>
          <a:bodyPr wrap="square" anchor="ctr">
            <a:spAutoFit/>
          </a:bodyPr>
          <a:lstStyle/>
          <a:p>
            <a:r>
              <a:rPr sz="1500">
                <a:solidFill>
                  <a:srgbClr val="262626"/>
                </a:solidFill>
                <a:latin typeface="Calibri"/>
              </a:rPr>
              <a:t>In Palm Haven, this is one campaign a year. In The Dunes, it's the through-line of everything we publish.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0972800" cy="365760"/>
          </a:xfrm>
          <a:prstGeom prst="rect">
            <a:avLst/>
          </a:prstGeom>
          <a:noFill/>
        </p:spPr>
        <p:txBody>
          <a:bodyPr wrap="square" lIns="0" rIns="0" anchor="t">
            <a:spAutoFit/>
          </a:bodyPr>
          <a:lstStyle/>
          <a:p>
            <a:pPr algn="l"/>
            <a:r>
              <a:rPr sz="1100" b="1">
                <a:solidFill>
                  <a:srgbClr val="A6A6A6"/>
                </a:solidFill>
                <a:latin typeface="Calibri"/>
              </a:rPr>
              <a:t>THE CHANNEL QUESTION</a:t>
            </a:r>
          </a:p>
        </p:txBody>
      </p:sp>
      <p:sp>
        <p:nvSpPr>
          <p:cNvPr id="3" name="TextBox 2"/>
          <p:cNvSpPr txBox="1"/>
          <p:nvPr/>
        </p:nvSpPr>
        <p:spPr>
          <a:xfrm>
            <a:off x="548640" y="868680"/>
            <a:ext cx="10972800" cy="640080"/>
          </a:xfrm>
          <a:prstGeom prst="rect">
            <a:avLst/>
          </a:prstGeom>
          <a:noFill/>
        </p:spPr>
        <p:txBody>
          <a:bodyPr wrap="square" lIns="0" rIns="0" anchor="t">
            <a:spAutoFit/>
          </a:bodyPr>
          <a:lstStyle/>
          <a:p>
            <a:pPr algn="l"/>
            <a:r>
              <a:rPr sz="3000" b="1">
                <a:solidFill>
                  <a:srgbClr val="262626"/>
                </a:solidFill>
                <a:latin typeface="Calibri"/>
              </a:rPr>
              <a:t>Why income demands different channels.</a:t>
            </a:r>
          </a:p>
        </p:txBody>
      </p:sp>
      <p:pic>
        <p:nvPicPr>
          <p:cNvPr id="4" name="Picture 3" descr="D_diverging_bars.png"/>
          <p:cNvPicPr>
            <a:picLocks noChangeAspect="1"/>
          </p:cNvPicPr>
          <p:nvPr/>
        </p:nvPicPr>
        <p:blipFill>
          <a:blip r:embed="rId2"/>
          <a:stretch>
            <a:fillRect/>
          </a:stretch>
        </p:blipFill>
        <p:spPr>
          <a:xfrm>
            <a:off x="2528924" y="1691640"/>
            <a:ext cx="7133847" cy="3383280"/>
          </a:xfrm>
          <a:prstGeom prst="rect">
            <a:avLst/>
          </a:prstGeom>
        </p:spPr>
      </p:pic>
      <p:sp>
        <p:nvSpPr>
          <p:cNvPr id="5" name="Rectangle 4"/>
          <p:cNvSpPr/>
          <p:nvPr/>
        </p:nvSpPr>
        <p:spPr>
          <a:xfrm>
            <a:off x="1097280" y="5349240"/>
            <a:ext cx="9966960" cy="822960"/>
          </a:xfrm>
          <a:prstGeom prst="rect">
            <a:avLst/>
          </a:prstGeom>
          <a:solidFill>
            <a:srgbClr val="FAF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5349240"/>
            <a:ext cx="73152" cy="822960"/>
          </a:xfrm>
          <a:prstGeom prst="rect">
            <a:avLst/>
          </a:prstGeom>
          <a:solidFill>
            <a:srgbClr val="A843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5440680"/>
            <a:ext cx="9509760" cy="640080"/>
          </a:xfrm>
          <a:prstGeom prst="rect">
            <a:avLst/>
          </a:prstGeom>
          <a:noFill/>
        </p:spPr>
        <p:txBody>
          <a:bodyPr wrap="square" anchor="ctr">
            <a:spAutoFit/>
          </a:bodyPr>
          <a:lstStyle/>
          <a:p>
            <a:r>
              <a:rPr sz="1500">
                <a:solidFill>
                  <a:srgbClr val="262626"/>
                </a:solidFill>
                <a:latin typeface="Calibri"/>
              </a:rPr>
              <a:t>69% of Dunes households earn under $25K. 45% of Palm Haven earns over $40K. The right channel mix is different in each neighborhood.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0972800" cy="365760"/>
          </a:xfrm>
          <a:prstGeom prst="rect">
            <a:avLst/>
          </a:prstGeom>
          <a:noFill/>
        </p:spPr>
        <p:txBody>
          <a:bodyPr wrap="square" lIns="0" rIns="0" anchor="t">
            <a:spAutoFit/>
          </a:bodyPr>
          <a:lstStyle/>
          <a:p>
            <a:pPr algn="l"/>
            <a:r>
              <a:rPr sz="1100" b="1">
                <a:solidFill>
                  <a:srgbClr val="A6A6A6"/>
                </a:solidFill>
                <a:latin typeface="Calibri"/>
              </a:rPr>
              <a:t>WHAT I'D DO ABOUT IT</a:t>
            </a:r>
          </a:p>
        </p:txBody>
      </p:sp>
      <p:sp>
        <p:nvSpPr>
          <p:cNvPr id="3" name="TextBox 2"/>
          <p:cNvSpPr txBox="1"/>
          <p:nvPr/>
        </p:nvSpPr>
        <p:spPr>
          <a:xfrm>
            <a:off x="548640" y="868680"/>
            <a:ext cx="10972800" cy="640080"/>
          </a:xfrm>
          <a:prstGeom prst="rect">
            <a:avLst/>
          </a:prstGeom>
          <a:noFill/>
        </p:spPr>
        <p:txBody>
          <a:bodyPr wrap="square" lIns="0" rIns="0" anchor="t">
            <a:spAutoFit/>
          </a:bodyPr>
          <a:lstStyle/>
          <a:p>
            <a:pPr algn="l"/>
            <a:r>
              <a:rPr sz="3000" b="1">
                <a:solidFill>
                  <a:srgbClr val="262626"/>
                </a:solidFill>
                <a:latin typeface="Calibri"/>
              </a:rPr>
              <a:t>Two neighborhoods. Two strategies.</a:t>
            </a:r>
          </a:p>
        </p:txBody>
      </p:sp>
      <p:sp>
        <p:nvSpPr>
          <p:cNvPr id="4" name="Rectangle 3"/>
          <p:cNvSpPr/>
          <p:nvPr/>
        </p:nvSpPr>
        <p:spPr>
          <a:xfrm>
            <a:off x="731520" y="2377440"/>
            <a:ext cx="5349240" cy="54864"/>
          </a:xfrm>
          <a:prstGeom prst="rect">
            <a:avLst/>
          </a:prstGeom>
          <a:solidFill>
            <a:srgbClr val="8B6F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542032"/>
            <a:ext cx="5349240" cy="457200"/>
          </a:xfrm>
          <a:prstGeom prst="rect">
            <a:avLst/>
          </a:prstGeom>
          <a:noFill/>
        </p:spPr>
        <p:txBody>
          <a:bodyPr wrap="square" lIns="0" rIns="0" anchor="t">
            <a:spAutoFit/>
          </a:bodyPr>
          <a:lstStyle/>
          <a:p>
            <a:pPr algn="l"/>
            <a:r>
              <a:rPr sz="2200" b="1">
                <a:solidFill>
                  <a:srgbClr val="8B6F47"/>
                </a:solidFill>
                <a:latin typeface="Calibri"/>
              </a:rPr>
              <a:t>The Dunes</a:t>
            </a:r>
          </a:p>
        </p:txBody>
      </p:sp>
      <p:sp>
        <p:nvSpPr>
          <p:cNvPr id="6" name="TextBox 5"/>
          <p:cNvSpPr txBox="1"/>
          <p:nvPr/>
        </p:nvSpPr>
        <p:spPr>
          <a:xfrm>
            <a:off x="731520" y="3154680"/>
            <a:ext cx="5349240" cy="502920"/>
          </a:xfrm>
          <a:prstGeom prst="rect">
            <a:avLst/>
          </a:prstGeom>
          <a:noFill/>
        </p:spPr>
        <p:txBody>
          <a:bodyPr wrap="square" lIns="0" rIns="0">
            <a:spAutoFit/>
          </a:bodyPr>
          <a:lstStyle/>
          <a:p>
            <a:pPr algn="l"/>
            <a:r>
              <a:rPr sz="1400" b="1">
                <a:solidFill>
                  <a:srgbClr val="262626"/>
                </a:solidFill>
                <a:latin typeface="Calibri"/>
              </a:rPr>
              <a:t>• Spanish first</a:t>
            </a:r>
            <a:r>
              <a:rPr sz="1400">
                <a:solidFill>
                  <a:srgbClr val="595959"/>
                </a:solidFill>
                <a:latin typeface="Calibri"/>
              </a:rPr>
              <a:t> — written natively, plain language</a:t>
            </a:r>
          </a:p>
        </p:txBody>
      </p:sp>
      <p:sp>
        <p:nvSpPr>
          <p:cNvPr id="7" name="TextBox 6"/>
          <p:cNvSpPr txBox="1"/>
          <p:nvPr/>
        </p:nvSpPr>
        <p:spPr>
          <a:xfrm>
            <a:off x="731520" y="3657600"/>
            <a:ext cx="5349240" cy="502920"/>
          </a:xfrm>
          <a:prstGeom prst="rect">
            <a:avLst/>
          </a:prstGeom>
          <a:noFill/>
        </p:spPr>
        <p:txBody>
          <a:bodyPr wrap="square" lIns="0" rIns="0">
            <a:spAutoFit/>
          </a:bodyPr>
          <a:lstStyle/>
          <a:p>
            <a:pPr algn="l"/>
            <a:r>
              <a:rPr sz="1400" b="1">
                <a:solidFill>
                  <a:srgbClr val="262626"/>
                </a:solidFill>
                <a:latin typeface="Calibri"/>
              </a:rPr>
              <a:t>• Lead with health</a:t>
            </a:r>
            <a:r>
              <a:rPr sz="1400">
                <a:solidFill>
                  <a:srgbClr val="595959"/>
                </a:solidFill>
                <a:latin typeface="Calibri"/>
              </a:rPr>
              <a:t> — clinics, food access, family programs</a:t>
            </a:r>
          </a:p>
        </p:txBody>
      </p:sp>
      <p:sp>
        <p:nvSpPr>
          <p:cNvPr id="8" name="TextBox 7"/>
          <p:cNvSpPr txBox="1"/>
          <p:nvPr/>
        </p:nvSpPr>
        <p:spPr>
          <a:xfrm>
            <a:off x="731520" y="4160520"/>
            <a:ext cx="5349240" cy="502920"/>
          </a:xfrm>
          <a:prstGeom prst="rect">
            <a:avLst/>
          </a:prstGeom>
          <a:noFill/>
        </p:spPr>
        <p:txBody>
          <a:bodyPr wrap="square" lIns="0" rIns="0">
            <a:spAutoFit/>
          </a:bodyPr>
          <a:lstStyle/>
          <a:p>
            <a:pPr algn="l"/>
            <a:r>
              <a:rPr sz="1400" b="1">
                <a:solidFill>
                  <a:srgbClr val="262626"/>
                </a:solidFill>
                <a:latin typeface="Calibri"/>
              </a:rPr>
              <a:t>• Trusted messengers</a:t>
            </a:r>
            <a:r>
              <a:rPr sz="1400">
                <a:solidFill>
                  <a:srgbClr val="595959"/>
                </a:solidFill>
                <a:latin typeface="Calibri"/>
              </a:rPr>
              <a:t> — schools, faith leaders, community health workers</a:t>
            </a:r>
          </a:p>
        </p:txBody>
      </p:sp>
      <p:sp>
        <p:nvSpPr>
          <p:cNvPr id="9" name="TextBox 8"/>
          <p:cNvSpPr txBox="1"/>
          <p:nvPr/>
        </p:nvSpPr>
        <p:spPr>
          <a:xfrm>
            <a:off x="731520" y="4663440"/>
            <a:ext cx="5349240" cy="502920"/>
          </a:xfrm>
          <a:prstGeom prst="rect">
            <a:avLst/>
          </a:prstGeom>
          <a:noFill/>
        </p:spPr>
        <p:txBody>
          <a:bodyPr wrap="square" lIns="0" rIns="0">
            <a:spAutoFit/>
          </a:bodyPr>
          <a:lstStyle/>
          <a:p>
            <a:pPr algn="l"/>
            <a:r>
              <a:rPr sz="1400" b="1">
                <a:solidFill>
                  <a:srgbClr val="262626"/>
                </a:solidFill>
                <a:latin typeface="Calibri"/>
              </a:rPr>
              <a:t>• Print, text, in-person</a:t>
            </a:r>
            <a:r>
              <a:rPr sz="1400">
                <a:solidFill>
                  <a:srgbClr val="595959"/>
                </a:solidFill>
                <a:latin typeface="Calibri"/>
              </a:rPr>
              <a:t> — channels people actually use</a:t>
            </a:r>
          </a:p>
        </p:txBody>
      </p:sp>
      <p:sp>
        <p:nvSpPr>
          <p:cNvPr id="10" name="TextBox 9"/>
          <p:cNvSpPr txBox="1"/>
          <p:nvPr/>
        </p:nvSpPr>
        <p:spPr>
          <a:xfrm>
            <a:off x="731520" y="5166360"/>
            <a:ext cx="5349240" cy="502920"/>
          </a:xfrm>
          <a:prstGeom prst="rect">
            <a:avLst/>
          </a:prstGeom>
          <a:noFill/>
        </p:spPr>
        <p:txBody>
          <a:bodyPr wrap="square" lIns="0" rIns="0">
            <a:spAutoFit/>
          </a:bodyPr>
          <a:lstStyle/>
          <a:p>
            <a:pPr algn="l"/>
            <a:r>
              <a:rPr sz="1400" b="1">
                <a:solidFill>
                  <a:srgbClr val="262626"/>
                </a:solidFill>
                <a:latin typeface="Calibri"/>
              </a:rPr>
              <a:t>• Multimodal</a:t>
            </a:r>
            <a:r>
              <a:rPr sz="1400">
                <a:solidFill>
                  <a:srgbClr val="595959"/>
                </a:solidFill>
                <a:latin typeface="Calibri"/>
              </a:rPr>
              <a:t> — same message, three formats</a:t>
            </a:r>
          </a:p>
        </p:txBody>
      </p:sp>
      <p:sp>
        <p:nvSpPr>
          <p:cNvPr id="11" name="Rectangle 10"/>
          <p:cNvSpPr/>
          <p:nvPr/>
        </p:nvSpPr>
        <p:spPr>
          <a:xfrm>
            <a:off x="6446520" y="2377440"/>
            <a:ext cx="5349240" cy="54864"/>
          </a:xfrm>
          <a:prstGeom prst="rect">
            <a:avLst/>
          </a:prstGeom>
          <a:solidFill>
            <a:srgbClr val="2C7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542032"/>
            <a:ext cx="5349240" cy="457200"/>
          </a:xfrm>
          <a:prstGeom prst="rect">
            <a:avLst/>
          </a:prstGeom>
          <a:noFill/>
        </p:spPr>
        <p:txBody>
          <a:bodyPr wrap="square" lIns="0" rIns="0" anchor="t">
            <a:spAutoFit/>
          </a:bodyPr>
          <a:lstStyle/>
          <a:p>
            <a:pPr algn="l"/>
            <a:r>
              <a:rPr sz="2200" b="1">
                <a:solidFill>
                  <a:srgbClr val="2C7A7B"/>
                </a:solidFill>
                <a:latin typeface="Calibri"/>
              </a:rPr>
              <a:t>Palm Haven</a:t>
            </a:r>
          </a:p>
        </p:txBody>
      </p:sp>
      <p:sp>
        <p:nvSpPr>
          <p:cNvPr id="13" name="TextBox 12"/>
          <p:cNvSpPr txBox="1"/>
          <p:nvPr/>
        </p:nvSpPr>
        <p:spPr>
          <a:xfrm>
            <a:off x="6446520" y="3154680"/>
            <a:ext cx="5349240" cy="502920"/>
          </a:xfrm>
          <a:prstGeom prst="rect">
            <a:avLst/>
          </a:prstGeom>
          <a:noFill/>
        </p:spPr>
        <p:txBody>
          <a:bodyPr wrap="square" lIns="0" rIns="0">
            <a:spAutoFit/>
          </a:bodyPr>
          <a:lstStyle/>
          <a:p>
            <a:pPr algn="l"/>
            <a:r>
              <a:rPr sz="1400" b="1">
                <a:solidFill>
                  <a:srgbClr val="262626"/>
                </a:solidFill>
                <a:latin typeface="Calibri"/>
              </a:rPr>
              <a:t>• Digital-first</a:t>
            </a:r>
            <a:r>
              <a:rPr sz="1400">
                <a:solidFill>
                  <a:srgbClr val="595959"/>
                </a:solidFill>
                <a:latin typeface="Calibri"/>
              </a:rPr>
              <a:t> — captioned video, screen-reader friendly</a:t>
            </a:r>
          </a:p>
        </p:txBody>
      </p:sp>
      <p:sp>
        <p:nvSpPr>
          <p:cNvPr id="14" name="TextBox 13"/>
          <p:cNvSpPr txBox="1"/>
          <p:nvPr/>
        </p:nvSpPr>
        <p:spPr>
          <a:xfrm>
            <a:off x="6446520" y="3657600"/>
            <a:ext cx="5349240" cy="502920"/>
          </a:xfrm>
          <a:prstGeom prst="rect">
            <a:avLst/>
          </a:prstGeom>
          <a:noFill/>
        </p:spPr>
        <p:txBody>
          <a:bodyPr wrap="square" lIns="0" rIns="0">
            <a:spAutoFit/>
          </a:bodyPr>
          <a:lstStyle/>
          <a:p>
            <a:pPr algn="l"/>
            <a:r>
              <a:rPr sz="1400" b="1">
                <a:solidFill>
                  <a:srgbClr val="262626"/>
                </a:solidFill>
                <a:latin typeface="Calibri"/>
              </a:rPr>
              <a:t>• Lead with civic engagement</a:t>
            </a:r>
            <a:r>
              <a:rPr sz="1400">
                <a:solidFill>
                  <a:srgbClr val="595959"/>
                </a:solidFill>
                <a:latin typeface="Calibri"/>
              </a:rPr>
              <a:t> — volunteering, advocacy, town halls</a:t>
            </a:r>
          </a:p>
        </p:txBody>
      </p:sp>
      <p:sp>
        <p:nvSpPr>
          <p:cNvPr id="15" name="TextBox 14"/>
          <p:cNvSpPr txBox="1"/>
          <p:nvPr/>
        </p:nvSpPr>
        <p:spPr>
          <a:xfrm>
            <a:off x="6446520" y="4160520"/>
            <a:ext cx="5349240" cy="502920"/>
          </a:xfrm>
          <a:prstGeom prst="rect">
            <a:avLst/>
          </a:prstGeom>
          <a:noFill/>
        </p:spPr>
        <p:txBody>
          <a:bodyPr wrap="square" lIns="0" rIns="0">
            <a:spAutoFit/>
          </a:bodyPr>
          <a:lstStyle/>
          <a:p>
            <a:pPr algn="l"/>
            <a:r>
              <a:rPr sz="1400" b="1">
                <a:solidFill>
                  <a:srgbClr val="262626"/>
                </a:solidFill>
                <a:latin typeface="Calibri"/>
              </a:rPr>
              <a:t>• Self-serve resources</a:t>
            </a:r>
            <a:r>
              <a:rPr sz="1400">
                <a:solidFill>
                  <a:srgbClr val="595959"/>
                </a:solidFill>
                <a:latin typeface="Calibri"/>
              </a:rPr>
              <a:t> — clear portals, on-demand video</a:t>
            </a:r>
          </a:p>
        </p:txBody>
      </p:sp>
      <p:sp>
        <p:nvSpPr>
          <p:cNvPr id="16" name="TextBox 15"/>
          <p:cNvSpPr txBox="1"/>
          <p:nvPr/>
        </p:nvSpPr>
        <p:spPr>
          <a:xfrm>
            <a:off x="6446520" y="4663440"/>
            <a:ext cx="5349240" cy="502920"/>
          </a:xfrm>
          <a:prstGeom prst="rect">
            <a:avLst/>
          </a:prstGeom>
          <a:noFill/>
        </p:spPr>
        <p:txBody>
          <a:bodyPr wrap="square" lIns="0" rIns="0">
            <a:spAutoFit/>
          </a:bodyPr>
          <a:lstStyle/>
          <a:p>
            <a:pPr algn="l"/>
            <a:r>
              <a:rPr sz="1400" b="1">
                <a:solidFill>
                  <a:srgbClr val="262626"/>
                </a:solidFill>
                <a:latin typeface="Calibri"/>
              </a:rPr>
              <a:t>• Monthly newsletter</a:t>
            </a:r>
            <a:r>
              <a:rPr sz="1400">
                <a:solidFill>
                  <a:srgbClr val="595959"/>
                </a:solidFill>
                <a:latin typeface="Calibri"/>
              </a:rPr>
              <a:t> — opt-in, data-rich, transparent</a:t>
            </a:r>
          </a:p>
        </p:txBody>
      </p:sp>
      <p:sp>
        <p:nvSpPr>
          <p:cNvPr id="17" name="TextBox 16"/>
          <p:cNvSpPr txBox="1"/>
          <p:nvPr/>
        </p:nvSpPr>
        <p:spPr>
          <a:xfrm>
            <a:off x="6446520" y="5166360"/>
            <a:ext cx="5349240" cy="502920"/>
          </a:xfrm>
          <a:prstGeom prst="rect">
            <a:avLst/>
          </a:prstGeom>
          <a:noFill/>
        </p:spPr>
        <p:txBody>
          <a:bodyPr wrap="square" lIns="0" rIns="0">
            <a:spAutoFit/>
          </a:bodyPr>
          <a:lstStyle/>
          <a:p>
            <a:pPr algn="l"/>
            <a:r>
              <a:rPr sz="1400" b="1">
                <a:solidFill>
                  <a:srgbClr val="262626"/>
                </a:solidFill>
                <a:latin typeface="Calibri"/>
              </a:rPr>
              <a:t>• Two-way</a:t>
            </a:r>
            <a:r>
              <a:rPr sz="1400">
                <a:solidFill>
                  <a:srgbClr val="595959"/>
                </a:solidFill>
                <a:latin typeface="Calibri"/>
              </a:rPr>
              <a:t> — comment forms, surveys, public meetings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0972800" cy="365760"/>
          </a:xfrm>
          <a:prstGeom prst="rect">
            <a:avLst/>
          </a:prstGeom>
          <a:noFill/>
        </p:spPr>
        <p:txBody>
          <a:bodyPr wrap="square" lIns="0" rIns="0" anchor="t">
            <a:spAutoFit/>
          </a:bodyPr>
          <a:lstStyle/>
          <a:p>
            <a:pPr algn="l"/>
            <a:r>
              <a:rPr sz="1100" b="1">
                <a:solidFill>
                  <a:srgbClr val="A6A6A6"/>
                </a:solidFill>
                <a:latin typeface="Calibri"/>
              </a:rPr>
              <a:t>FIRST 90 DAYS &amp; HOW I'LL MEASURE</a:t>
            </a:r>
          </a:p>
        </p:txBody>
      </p:sp>
      <p:sp>
        <p:nvSpPr>
          <p:cNvPr id="3" name="TextBox 2"/>
          <p:cNvSpPr txBox="1"/>
          <p:nvPr/>
        </p:nvSpPr>
        <p:spPr>
          <a:xfrm>
            <a:off x="548640" y="868680"/>
            <a:ext cx="10972800" cy="640080"/>
          </a:xfrm>
          <a:prstGeom prst="rect">
            <a:avLst/>
          </a:prstGeom>
          <a:noFill/>
        </p:spPr>
        <p:txBody>
          <a:bodyPr wrap="square" lIns="0" rIns="0" anchor="t">
            <a:spAutoFit/>
          </a:bodyPr>
          <a:lstStyle/>
          <a:p>
            <a:pPr algn="l"/>
            <a:r>
              <a:rPr sz="3000" b="1">
                <a:solidFill>
                  <a:srgbClr val="262626"/>
                </a:solidFill>
                <a:latin typeface="Calibri"/>
              </a:rPr>
              <a:t>Sequenced. Measurable. Honest.</a:t>
            </a:r>
          </a:p>
        </p:txBody>
      </p:sp>
      <p:sp>
        <p:nvSpPr>
          <p:cNvPr id="4" name="Rectangle 3"/>
          <p:cNvSpPr/>
          <p:nvPr/>
        </p:nvSpPr>
        <p:spPr>
          <a:xfrm>
            <a:off x="731520" y="2377440"/>
            <a:ext cx="5349240" cy="54864"/>
          </a:xfrm>
          <a:prstGeom prst="rect">
            <a:avLst/>
          </a:prstGeom>
          <a:solidFill>
            <a:srgbClr val="8B6F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542032"/>
            <a:ext cx="5349240" cy="457200"/>
          </a:xfrm>
          <a:prstGeom prst="rect">
            <a:avLst/>
          </a:prstGeom>
          <a:noFill/>
        </p:spPr>
        <p:txBody>
          <a:bodyPr wrap="square" lIns="0" rIns="0" anchor="t">
            <a:spAutoFit/>
          </a:bodyPr>
          <a:lstStyle/>
          <a:p>
            <a:pPr algn="l"/>
            <a:r>
              <a:rPr sz="2200" b="1">
                <a:solidFill>
                  <a:srgbClr val="8B6F47"/>
                </a:solidFill>
                <a:latin typeface="Calibri"/>
              </a:rPr>
              <a:t>First 90 days</a:t>
            </a:r>
          </a:p>
        </p:txBody>
      </p:sp>
      <p:sp>
        <p:nvSpPr>
          <p:cNvPr id="6" name="TextBox 5"/>
          <p:cNvSpPr txBox="1"/>
          <p:nvPr/>
        </p:nvSpPr>
        <p:spPr>
          <a:xfrm>
            <a:off x="731520" y="3154680"/>
            <a:ext cx="5349240" cy="502920"/>
          </a:xfrm>
          <a:prstGeom prst="rect">
            <a:avLst/>
          </a:prstGeom>
          <a:noFill/>
        </p:spPr>
        <p:txBody>
          <a:bodyPr wrap="square" lIns="0" rIns="0">
            <a:spAutoFit/>
          </a:bodyPr>
          <a:lstStyle/>
          <a:p>
            <a:pPr algn="l"/>
            <a:r>
              <a:rPr sz="1400" b="1">
                <a:solidFill>
                  <a:srgbClr val="262626"/>
                </a:solidFill>
                <a:latin typeface="Calibri"/>
              </a:rPr>
              <a:t>• Days 1–30 — Audit</a:t>
            </a:r>
            <a:r>
              <a:rPr sz="1400">
                <a:solidFill>
                  <a:srgbClr val="595959"/>
                </a:solidFill>
                <a:latin typeface="Calibri"/>
              </a:rPr>
              <a:t> — inventory every channel; translate nothing yet</a:t>
            </a:r>
          </a:p>
        </p:txBody>
      </p:sp>
      <p:sp>
        <p:nvSpPr>
          <p:cNvPr id="7" name="TextBox 6"/>
          <p:cNvSpPr txBox="1"/>
          <p:nvPr/>
        </p:nvSpPr>
        <p:spPr>
          <a:xfrm>
            <a:off x="731520" y="3657600"/>
            <a:ext cx="5349240" cy="502920"/>
          </a:xfrm>
          <a:prstGeom prst="rect">
            <a:avLst/>
          </a:prstGeom>
          <a:noFill/>
        </p:spPr>
        <p:txBody>
          <a:bodyPr wrap="square" lIns="0" rIns="0">
            <a:spAutoFit/>
          </a:bodyPr>
          <a:lstStyle/>
          <a:p>
            <a:pPr algn="l"/>
            <a:r>
              <a:rPr sz="1400" b="1">
                <a:solidFill>
                  <a:srgbClr val="262626"/>
                </a:solidFill>
                <a:latin typeface="Calibri"/>
              </a:rPr>
              <a:t>• Days 31–60 — Build</a:t>
            </a:r>
            <a:r>
              <a:rPr sz="1400">
                <a:solidFill>
                  <a:srgbClr val="595959"/>
                </a:solidFill>
                <a:latin typeface="Calibri"/>
              </a:rPr>
              <a:t> — Spanish-language editor; accessibility workflow</a:t>
            </a:r>
          </a:p>
        </p:txBody>
      </p:sp>
      <p:sp>
        <p:nvSpPr>
          <p:cNvPr id="8" name="TextBox 7"/>
          <p:cNvSpPr txBox="1"/>
          <p:nvPr/>
        </p:nvSpPr>
        <p:spPr>
          <a:xfrm>
            <a:off x="731520" y="4160520"/>
            <a:ext cx="5349240" cy="502920"/>
          </a:xfrm>
          <a:prstGeom prst="rect">
            <a:avLst/>
          </a:prstGeom>
          <a:noFill/>
        </p:spPr>
        <p:txBody>
          <a:bodyPr wrap="square" lIns="0" rIns="0">
            <a:spAutoFit/>
          </a:bodyPr>
          <a:lstStyle/>
          <a:p>
            <a:pPr algn="l"/>
            <a:r>
              <a:rPr sz="1400" b="1">
                <a:solidFill>
                  <a:srgbClr val="262626"/>
                </a:solidFill>
                <a:latin typeface="Calibri"/>
              </a:rPr>
              <a:t>• Days 61–90 — Re-mix</a:t>
            </a:r>
            <a:r>
              <a:rPr sz="1400">
                <a:solidFill>
                  <a:srgbClr val="595959"/>
                </a:solidFill>
                <a:latin typeface="Calibri"/>
              </a:rPr>
              <a:t> — SMS pilot, email cleanup, sunset what isn't working</a:t>
            </a:r>
          </a:p>
        </p:txBody>
      </p:sp>
      <p:sp>
        <p:nvSpPr>
          <p:cNvPr id="9" name="Rectangle 8"/>
          <p:cNvSpPr/>
          <p:nvPr/>
        </p:nvSpPr>
        <p:spPr>
          <a:xfrm>
            <a:off x="6446520" y="2377440"/>
            <a:ext cx="5349240" cy="54864"/>
          </a:xfrm>
          <a:prstGeom prst="rect">
            <a:avLst/>
          </a:prstGeom>
          <a:solidFill>
            <a:srgbClr val="2C7A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542032"/>
            <a:ext cx="5349240" cy="457200"/>
          </a:xfrm>
          <a:prstGeom prst="rect">
            <a:avLst/>
          </a:prstGeom>
          <a:noFill/>
        </p:spPr>
        <p:txBody>
          <a:bodyPr wrap="square" lIns="0" rIns="0" anchor="t">
            <a:spAutoFit/>
          </a:bodyPr>
          <a:lstStyle/>
          <a:p>
            <a:pPr algn="l"/>
            <a:r>
              <a:rPr sz="2200" b="1">
                <a:solidFill>
                  <a:srgbClr val="2C7A7B"/>
                </a:solidFill>
                <a:latin typeface="Calibri"/>
              </a:rPr>
              <a:t>How I'll know it's working</a:t>
            </a:r>
          </a:p>
        </p:txBody>
      </p:sp>
      <p:sp>
        <p:nvSpPr>
          <p:cNvPr id="11" name="TextBox 10"/>
          <p:cNvSpPr txBox="1"/>
          <p:nvPr/>
        </p:nvSpPr>
        <p:spPr>
          <a:xfrm>
            <a:off x="6446520" y="3154680"/>
            <a:ext cx="5349240" cy="502920"/>
          </a:xfrm>
          <a:prstGeom prst="rect">
            <a:avLst/>
          </a:prstGeom>
          <a:noFill/>
        </p:spPr>
        <p:txBody>
          <a:bodyPr wrap="square" lIns="0" rIns="0">
            <a:spAutoFit/>
          </a:bodyPr>
          <a:lstStyle/>
          <a:p>
            <a:pPr algn="l"/>
            <a:r>
              <a:rPr sz="1400" b="1">
                <a:solidFill>
                  <a:srgbClr val="262626"/>
                </a:solidFill>
                <a:latin typeface="Calibri"/>
              </a:rPr>
              <a:t>• Reach by neighborhood</a:t>
            </a:r>
            <a:r>
              <a:rPr sz="1400">
                <a:solidFill>
                  <a:srgbClr val="595959"/>
                </a:solidFill>
                <a:latin typeface="Calibri"/>
              </a:rPr>
              <a:t> — never aggregate</a:t>
            </a:r>
          </a:p>
        </p:txBody>
      </p:sp>
      <p:sp>
        <p:nvSpPr>
          <p:cNvPr id="12" name="TextBox 11"/>
          <p:cNvSpPr txBox="1"/>
          <p:nvPr/>
        </p:nvSpPr>
        <p:spPr>
          <a:xfrm>
            <a:off x="6446520" y="3657600"/>
            <a:ext cx="5349240" cy="502920"/>
          </a:xfrm>
          <a:prstGeom prst="rect">
            <a:avLst/>
          </a:prstGeom>
          <a:noFill/>
        </p:spPr>
        <p:txBody>
          <a:bodyPr wrap="square" lIns="0" rIns="0">
            <a:spAutoFit/>
          </a:bodyPr>
          <a:lstStyle/>
          <a:p>
            <a:pPr algn="l"/>
            <a:r>
              <a:rPr sz="1400" b="1">
                <a:solidFill>
                  <a:srgbClr val="262626"/>
                </a:solidFill>
                <a:latin typeface="Calibri"/>
              </a:rPr>
              <a:t>• Outcome metrics</a:t>
            </a:r>
            <a:r>
              <a:rPr sz="1400">
                <a:solidFill>
                  <a:srgbClr val="595959"/>
                </a:solidFill>
                <a:latin typeface="Calibri"/>
              </a:rPr>
              <a:t> — clinic visits, town halls, enrollments</a:t>
            </a:r>
          </a:p>
        </p:txBody>
      </p:sp>
      <p:sp>
        <p:nvSpPr>
          <p:cNvPr id="13" name="TextBox 12"/>
          <p:cNvSpPr txBox="1"/>
          <p:nvPr/>
        </p:nvSpPr>
        <p:spPr>
          <a:xfrm>
            <a:off x="6446520" y="4160520"/>
            <a:ext cx="5349240" cy="502920"/>
          </a:xfrm>
          <a:prstGeom prst="rect">
            <a:avLst/>
          </a:prstGeom>
          <a:noFill/>
        </p:spPr>
        <p:txBody>
          <a:bodyPr wrap="square" lIns="0" rIns="0">
            <a:spAutoFit/>
          </a:bodyPr>
          <a:lstStyle/>
          <a:p>
            <a:pPr algn="l"/>
            <a:r>
              <a:rPr sz="1400" b="1">
                <a:solidFill>
                  <a:srgbClr val="262626"/>
                </a:solidFill>
                <a:latin typeface="Calibri"/>
              </a:rPr>
              <a:t>• Accessibility scan</a:t>
            </a:r>
            <a:r>
              <a:rPr sz="1400">
                <a:solidFill>
                  <a:srgbClr val="595959"/>
                </a:solidFill>
                <a:latin typeface="Calibri"/>
              </a:rPr>
              <a:t> — every published asset</a:t>
            </a:r>
          </a:p>
        </p:txBody>
      </p:sp>
      <p:sp>
        <p:nvSpPr>
          <p:cNvPr id="14" name="TextBox 13"/>
          <p:cNvSpPr txBox="1"/>
          <p:nvPr/>
        </p:nvSpPr>
        <p:spPr>
          <a:xfrm>
            <a:off x="6446520" y="4663440"/>
            <a:ext cx="5349240" cy="502920"/>
          </a:xfrm>
          <a:prstGeom prst="rect">
            <a:avLst/>
          </a:prstGeom>
          <a:noFill/>
        </p:spPr>
        <p:txBody>
          <a:bodyPr wrap="square" lIns="0" rIns="0">
            <a:spAutoFit/>
          </a:bodyPr>
          <a:lstStyle/>
          <a:p>
            <a:pPr algn="l"/>
            <a:r>
              <a:rPr sz="1400" b="1">
                <a:solidFill>
                  <a:srgbClr val="262626"/>
                </a:solidFill>
                <a:latin typeface="Calibri"/>
              </a:rPr>
              <a:t>• Trust surveys</a:t>
            </a:r>
            <a:r>
              <a:rPr sz="1400">
                <a:solidFill>
                  <a:srgbClr val="595959"/>
                </a:solidFill>
                <a:latin typeface="Calibri"/>
              </a:rPr>
              <a:t> — before-and-after every event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914400"/>
            <a:ext cx="12191695" cy="365760"/>
          </a:xfrm>
          <a:prstGeom prst="rect">
            <a:avLst/>
          </a:prstGeom>
          <a:noFill/>
        </p:spPr>
        <p:txBody>
          <a:bodyPr wrap="square" lIns="0" rIns="0" anchor="t">
            <a:spAutoFit/>
          </a:bodyPr>
          <a:lstStyle/>
          <a:p>
            <a:pPr algn="ctr"/>
            <a:r>
              <a:rPr sz="1100" b="1">
                <a:solidFill>
                  <a:srgbClr val="A6A6A6"/>
                </a:solidFill>
                <a:latin typeface="Calibri"/>
              </a:rPr>
              <a:t>THANK YOU</a:t>
            </a:r>
          </a:p>
        </p:txBody>
      </p:sp>
      <p:sp>
        <p:nvSpPr>
          <p:cNvPr id="3" name="TextBox 2"/>
          <p:cNvSpPr txBox="1"/>
          <p:nvPr/>
        </p:nvSpPr>
        <p:spPr>
          <a:xfrm>
            <a:off x="0" y="2194560"/>
            <a:ext cx="12191695" cy="2286000"/>
          </a:xfrm>
          <a:prstGeom prst="rect">
            <a:avLst/>
          </a:prstGeom>
          <a:noFill/>
        </p:spPr>
        <p:txBody>
          <a:bodyPr wrap="square" lIns="0" rIns="0" anchor="ctr">
            <a:spAutoFit/>
          </a:bodyPr>
          <a:lstStyle/>
          <a:p>
            <a:pPr algn="ctr"/>
            <a:r>
              <a:rPr sz="4400" b="1">
                <a:solidFill>
                  <a:srgbClr val="262626"/>
                </a:solidFill>
                <a:latin typeface="Calibri"/>
              </a:rPr>
              <a:t>I'd be honored to do this work for Clear City.</a:t>
            </a:r>
          </a:p>
        </p:txBody>
      </p:sp>
      <p:sp>
        <p:nvSpPr>
          <p:cNvPr id="4" name="TextBox 3"/>
          <p:cNvSpPr txBox="1"/>
          <p:nvPr/>
        </p:nvSpPr>
        <p:spPr>
          <a:xfrm>
            <a:off x="0" y="4572000"/>
            <a:ext cx="12191695" cy="457200"/>
          </a:xfrm>
          <a:prstGeom prst="rect">
            <a:avLst/>
          </a:prstGeom>
          <a:noFill/>
        </p:spPr>
        <p:txBody>
          <a:bodyPr wrap="square" lIns="0" rIns="0" anchor="t">
            <a:spAutoFit/>
          </a:bodyPr>
          <a:lstStyle/>
          <a:p>
            <a:pPr algn="ctr"/>
            <a:r>
              <a:rPr sz="1600" b="0">
                <a:solidFill>
                  <a:srgbClr val="595959"/>
                </a:solidFill>
                <a:latin typeface="Calibri"/>
              </a:rPr>
              <a:t>Two neighborhoods. Two strategies. One goal — every resident reached.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